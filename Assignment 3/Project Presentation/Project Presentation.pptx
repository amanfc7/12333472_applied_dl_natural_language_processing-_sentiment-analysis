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3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18023-B313-463C-9DDC-7532B13D17C1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D0FB5-62B8-4125-AA3C-6DABB226EB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89662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18023-B313-463C-9DDC-7532B13D17C1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D0FB5-62B8-4125-AA3C-6DABB226EB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4756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18023-B313-463C-9DDC-7532B13D17C1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D0FB5-62B8-4125-AA3C-6DABB226EB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94576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18023-B313-463C-9DDC-7532B13D17C1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D0FB5-62B8-4125-AA3C-6DABB226EB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15369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18023-B313-463C-9DDC-7532B13D17C1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D0FB5-62B8-4125-AA3C-6DABB226EB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08960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18023-B313-463C-9DDC-7532B13D17C1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D0FB5-62B8-4125-AA3C-6DABB226EB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21323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18023-B313-463C-9DDC-7532B13D17C1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D0FB5-62B8-4125-AA3C-6DABB226EB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71833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18023-B313-463C-9DDC-7532B13D17C1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D0FB5-62B8-4125-AA3C-6DABB226EB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38626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18023-B313-463C-9DDC-7532B13D17C1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D0FB5-62B8-4125-AA3C-6DABB226EB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6876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18023-B313-463C-9DDC-7532B13D17C1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D0FB5-62B8-4125-AA3C-6DABB226EB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36943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18023-B313-463C-9DDC-7532B13D17C1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D0FB5-62B8-4125-AA3C-6DABB226EB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86448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18023-B313-463C-9DDC-7532B13D17C1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D0FB5-62B8-4125-AA3C-6DABB226EBAD}" type="slidenum">
              <a:rPr lang="en-IN" smtClean="0"/>
              <a:t>‹#›</a:t>
            </a:fld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714861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18023-B313-463C-9DDC-7532B13D17C1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D0FB5-62B8-4125-AA3C-6DABB226EB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61178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18023-B313-463C-9DDC-7532B13D17C1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D0FB5-62B8-4125-AA3C-6DABB226EB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4080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18023-B313-463C-9DDC-7532B13D17C1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D0FB5-62B8-4125-AA3C-6DABB226EB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8684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18023-B313-463C-9DDC-7532B13D17C1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D0FB5-62B8-4125-AA3C-6DABB226EB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21237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18023-B313-463C-9DDC-7532B13D17C1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8D0FB5-62B8-4125-AA3C-6DABB226EB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30056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68A18023-B313-463C-9DDC-7532B13D17C1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8D0FB5-62B8-4125-AA3C-6DABB226EB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294115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39" r:id="rId1"/>
    <p:sldLayoutId id="2147483840" r:id="rId2"/>
    <p:sldLayoutId id="2147483841" r:id="rId3"/>
    <p:sldLayoutId id="2147483842" r:id="rId4"/>
    <p:sldLayoutId id="2147483843" r:id="rId5"/>
    <p:sldLayoutId id="2147483844" r:id="rId6"/>
    <p:sldLayoutId id="2147483845" r:id="rId7"/>
    <p:sldLayoutId id="2147483846" r:id="rId8"/>
    <p:sldLayoutId id="2147483847" r:id="rId9"/>
    <p:sldLayoutId id="2147483848" r:id="rId10"/>
    <p:sldLayoutId id="2147483849" r:id="rId11"/>
    <p:sldLayoutId id="2147483850" r:id="rId12"/>
    <p:sldLayoutId id="2147483851" r:id="rId13"/>
    <p:sldLayoutId id="2147483852" r:id="rId14"/>
    <p:sldLayoutId id="2147483853" r:id="rId15"/>
    <p:sldLayoutId id="2147483854" r:id="rId16"/>
    <p:sldLayoutId id="214748385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8CA8B-3EE5-76BA-CA9C-0BFA9E9459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24" y="251696"/>
            <a:ext cx="8791575" cy="1272304"/>
          </a:xfrm>
        </p:spPr>
        <p:txBody>
          <a:bodyPr anchor="ctr">
            <a:noAutofit/>
          </a:bodyPr>
          <a:lstStyle/>
          <a:p>
            <a:pPr algn="ctr"/>
            <a:r>
              <a:rPr 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Applied Deep Learning Project (WS2025)</a:t>
            </a:r>
            <a:b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b="1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IMDB Sentiment Analysis Using NLP</a:t>
            </a:r>
            <a:endParaRPr lang="en-I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8A9B46-634A-A6A9-060C-097513BC78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29033" y="2228603"/>
            <a:ext cx="9969910" cy="1448661"/>
          </a:xfrm>
        </p:spPr>
        <p:txBody>
          <a:bodyPr>
            <a:noAutofit/>
          </a:bodyPr>
          <a:lstStyle/>
          <a:p>
            <a:pPr algn="ctr"/>
            <a:r>
              <a:rPr lang="en-IN" sz="2800" b="1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algn="just"/>
            <a:r>
              <a:rPr lang="en-US" sz="16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this project, I re-implemented a deep learning-based system to classify movie reviews from the IMDB dataset as positive or negative. Using a </a:t>
            </a:r>
            <a:r>
              <a:rPr lang="en-US" sz="1600" cap="none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RoBERTa</a:t>
            </a:r>
            <a:r>
              <a:rPr lang="en-US" sz="16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transformer model, I implemented an end-to-end pipeline from data preprocessing to model training, evaluation, and deployment in a web-based </a:t>
            </a:r>
            <a:r>
              <a:rPr lang="en-US" sz="1600" cap="none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US" sz="16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application.</a:t>
            </a:r>
          </a:p>
          <a:p>
            <a:pPr algn="just"/>
            <a:endParaRPr lang="en-US" sz="1600" cap="non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1600" cap="non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767D03-104F-7EC0-68CA-39F28951FEAB}"/>
              </a:ext>
            </a:extLst>
          </p:cNvPr>
          <p:cNvSpPr txBox="1"/>
          <p:nvPr/>
        </p:nvSpPr>
        <p:spPr>
          <a:xfrm>
            <a:off x="1229033" y="1614692"/>
            <a:ext cx="38444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Name: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Aman Bhardwaj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ID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12333472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76D9205-2169-3A0C-916B-A0AC8AB99A38}"/>
              </a:ext>
            </a:extLst>
          </p:cNvPr>
          <p:cNvSpPr txBox="1">
            <a:spLocks/>
          </p:cNvSpPr>
          <p:nvPr/>
        </p:nvSpPr>
        <p:spPr>
          <a:xfrm>
            <a:off x="1321669" y="3706400"/>
            <a:ext cx="10058400" cy="19885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eaLnBrk="0" fontAlgn="base" hangingPunct="0">
              <a:spcAft>
                <a:spcPct val="0"/>
              </a:spcAft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Approach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Bring Your Own Method – Re-implemented and fine tuned the model</a:t>
            </a:r>
            <a:br>
              <a:rPr lang="en-US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Dataset:</a:t>
            </a: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IMDB Large Movie Reviews – 50,000 labeled reviews (binary sentiment).</a:t>
            </a:r>
            <a:b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Model:</a:t>
            </a: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RoBERTa</a:t>
            </a: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-base Transformer for contextual text understanding.</a:t>
            </a:r>
            <a:b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Tokenizer:</a:t>
            </a: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RoBERTa</a:t>
            </a: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Byte-Pair Encoding (BPE).</a:t>
            </a:r>
            <a:b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Loss Function:</a:t>
            </a: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Cross-Entropy Loss for binary classification.</a:t>
            </a:r>
            <a:b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Deliverables:</a:t>
            </a: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Pipeline + interactive </a:t>
            </a:r>
            <a:r>
              <a:rPr lang="en-US" alt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web app for real-time sentiment prediction.</a:t>
            </a:r>
            <a:br>
              <a:rPr lang="en-US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3686553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63E9C89-DB2C-B115-3461-0F0CBE3DE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2085" y="226576"/>
            <a:ext cx="9404723" cy="569837"/>
          </a:xfrm>
        </p:spPr>
        <p:txBody>
          <a:bodyPr anchor="ctr"/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A7522B-F0FE-D830-7787-19275919C528}"/>
              </a:ext>
            </a:extLst>
          </p:cNvPr>
          <p:cNvSpPr txBox="1"/>
          <p:nvPr/>
        </p:nvSpPr>
        <p:spPr>
          <a:xfrm>
            <a:off x="882085" y="796413"/>
            <a:ext cx="9630863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IMDB reviews were preprocessed minimally and tokenized to feed into a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RoBERTa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transformer model, which excels at understanding contextual language. The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RoBERTa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tokenizer converts text into sub-word tokens, while the model is trained using Cross-Entropy Loss for binary sentiment classification.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Split: 80% Train / 10% Validation / 10% Test</a:t>
            </a: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Minimal Text Cleaning: Removed HTML tags and normalized whitespaces; no lowercasing or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stopwords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RoBERTa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pretrained on raw text. </a:t>
            </a:r>
            <a:r>
              <a:rPr lang="en-IN" dirty="0"/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Saved cleaned CSVs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RoBERTa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Model:</a:t>
            </a: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Pretrained transformer encoder for contextual language understanding</a:t>
            </a:r>
          </a:p>
          <a:p>
            <a:pPr lvl="1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Fine-tuned for sentiment classification with 2 output classes (Positive / Negative)</a:t>
            </a:r>
          </a:p>
          <a:p>
            <a:pPr lvl="1"/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Tokenizer:</a:t>
            </a: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Byte-Pair Encoding (BPE)</a:t>
            </a:r>
          </a:p>
          <a:p>
            <a:pPr lvl="1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Converts text → Input IDs &amp; Attention Masks</a:t>
            </a:r>
          </a:p>
          <a:p>
            <a:pPr lvl="1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 sequence length = 256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Saved .pt files for train/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/test 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85478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3B8760-3F21-AA86-93F4-9A5543387A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3815" y="204453"/>
            <a:ext cx="9269720" cy="778771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Training &amp; Optimization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0409CA-FA7D-1285-0B13-48B6231B4AEB}"/>
              </a:ext>
            </a:extLst>
          </p:cNvPr>
          <p:cNvSpPr txBox="1"/>
          <p:nvPr/>
        </p:nvSpPr>
        <p:spPr>
          <a:xfrm>
            <a:off x="707923" y="1170039"/>
            <a:ext cx="96356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preprocessing and tokenization, the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RoBERTa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 was trained on the IMDB dataset. We implemented both a baseline and an optimized fine-tuned model, experimenting with hyperparameters like learning rate, batch size, dropout, weight decay, and pooling to maximize performance.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3EDD53E-2C3A-EDD5-CF9A-F5FE5D64969F}"/>
              </a:ext>
            </a:extLst>
          </p:cNvPr>
          <p:cNvSpPr txBox="1"/>
          <p:nvPr/>
        </p:nvSpPr>
        <p:spPr>
          <a:xfrm>
            <a:off x="707923" y="2148531"/>
            <a:ext cx="4807975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Baseline Model: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Trained only the classification head for 5 epochs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Metrics established a reference performance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Optimized Model: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Fine-tuned all layers of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RoBERTa</a:t>
            </a: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Hyperparameter tuning across 8 configurations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Early stopping used to prevent overfitting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Hyperparameters Considered: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Learning rate: 1e-5, 2e-5, 3e-5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Batch size: 16, 32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Dropout: 0.1, 0.2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Weight decay: 0, 0.01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Pooling: CLS / Mean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Scheduler: linear / cosine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98FF8B8-F816-680D-D4A3-35453C7E4C88}"/>
              </a:ext>
            </a:extLst>
          </p:cNvPr>
          <p:cNvSpPr txBox="1"/>
          <p:nvPr/>
        </p:nvSpPr>
        <p:spPr>
          <a:xfrm>
            <a:off x="5889523" y="2148531"/>
            <a:ext cx="5712542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Tokenized Inputs (.pt files)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│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▼</a:t>
            </a:r>
          </a:p>
          <a:p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RoBERTa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Classifier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│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▼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Train/Validation → Hyperparameter Tuning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│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▼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Stopping → Best Model Selection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│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▼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Set Evaluation → Metrics &amp; Plots</a:t>
            </a:r>
          </a:p>
          <a:p>
            <a:endParaRPr lang="en-IN" sz="16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A7FABC9-4959-E151-C694-03BF555AFB3B}"/>
              </a:ext>
            </a:extLst>
          </p:cNvPr>
          <p:cNvSpPr txBox="1"/>
          <p:nvPr/>
        </p:nvSpPr>
        <p:spPr>
          <a:xfrm>
            <a:off x="5889523" y="5766618"/>
            <a:ext cx="57125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time: ~16 hours for optimized configurations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12574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50EC3-D3AF-B4A3-A389-1CAE86AC8F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285136"/>
            <a:ext cx="9404723" cy="668594"/>
          </a:xfrm>
        </p:spPr>
        <p:txBody>
          <a:bodyPr anchor="ctr"/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Table (Best Model)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7201CA2-0A53-3ADE-4B84-7E86C5A7C73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26226384"/>
              </p:ext>
            </p:extLst>
          </p:nvPr>
        </p:nvGraphicFramePr>
        <p:xfrm>
          <a:off x="1160206" y="1163489"/>
          <a:ext cx="9163664" cy="2560320"/>
        </p:xfrm>
        <a:graphic>
          <a:graphicData uri="http://schemas.openxmlformats.org/drawingml/2006/table">
            <a:tbl>
              <a:tblPr/>
              <a:tblGrid>
                <a:gridCol w="1561103">
                  <a:extLst>
                    <a:ext uri="{9D8B030D-6E8A-4147-A177-3AD203B41FA5}">
                      <a16:colId xmlns:a16="http://schemas.microsoft.com/office/drawing/2014/main" val="3814335788"/>
                    </a:ext>
                  </a:extLst>
                </a:gridCol>
                <a:gridCol w="2534187">
                  <a:extLst>
                    <a:ext uri="{9D8B030D-6E8A-4147-A177-3AD203B41FA5}">
                      <a16:colId xmlns:a16="http://schemas.microsoft.com/office/drawing/2014/main" val="2528609839"/>
                    </a:ext>
                  </a:extLst>
                </a:gridCol>
                <a:gridCol w="2534187">
                  <a:extLst>
                    <a:ext uri="{9D8B030D-6E8A-4147-A177-3AD203B41FA5}">
                      <a16:colId xmlns:a16="http://schemas.microsoft.com/office/drawing/2014/main" val="2051921523"/>
                    </a:ext>
                  </a:extLst>
                </a:gridCol>
                <a:gridCol w="2534187">
                  <a:extLst>
                    <a:ext uri="{9D8B030D-6E8A-4147-A177-3AD203B41FA5}">
                      <a16:colId xmlns:a16="http://schemas.microsoft.com/office/drawing/2014/main" val="38145754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Metric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Validation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16935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0.9862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0.9429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0.9430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19962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Precision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0.9850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0.9431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0.9355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00365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Recall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0.9875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0.9427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0.9516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48745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F1-score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0.9862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0.9429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0.9435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55801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Loss (CE)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0.0209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0.2864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0.2727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51097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Runtime (s)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5722.76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5722.76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197.21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7380022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F3CA812-FE45-D95C-4F47-4A71E09648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6101475"/>
              </p:ext>
            </p:extLst>
          </p:nvPr>
        </p:nvGraphicFramePr>
        <p:xfrm>
          <a:off x="1258529" y="1170039"/>
          <a:ext cx="9065341" cy="2560320"/>
        </p:xfrm>
        <a:graphic>
          <a:graphicData uri="http://schemas.openxmlformats.org/drawingml/2006/table">
            <a:tbl>
              <a:tblPr/>
              <a:tblGrid>
                <a:gridCol w="9065341">
                  <a:extLst>
                    <a:ext uri="{9D8B030D-6E8A-4147-A177-3AD203B41FA5}">
                      <a16:colId xmlns:a16="http://schemas.microsoft.com/office/drawing/2014/main" val="1403276185"/>
                    </a:ext>
                  </a:extLst>
                </a:gridCol>
              </a:tblGrid>
              <a:tr h="256032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5065522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13503764-9E6F-589A-5D01-B531DE2F46FF}"/>
              </a:ext>
            </a:extLst>
          </p:cNvPr>
          <p:cNvSpPr txBox="1"/>
          <p:nvPr/>
        </p:nvSpPr>
        <p:spPr>
          <a:xfrm>
            <a:off x="1258529" y="3972897"/>
            <a:ext cx="90653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configuration after training: { "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lr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": 1e-05, "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batch_size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": 32, "dropout": 0.1, "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weight_decay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": 0.0, "scheduler": "cosine", "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warmup_ratio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": 0.06, "pooling": "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 } 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0976032-7AFA-9029-6384-5528928B6577}"/>
              </a:ext>
            </a:extLst>
          </p:cNvPr>
          <p:cNvSpPr txBox="1"/>
          <p:nvPr/>
        </p:nvSpPr>
        <p:spPr>
          <a:xfrm>
            <a:off x="1258529" y="4906297"/>
            <a:ext cx="938980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validation set showed a bit less performance than the training set which is understandable as the size of the validation set is 8 times smaller than training set. Below are the plots for the training of the model, validation confusion matrix and runtimes: 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00502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>
            <a:extLst>
              <a:ext uri="{FF2B5EF4-FFF2-40B4-BE49-F238E27FC236}">
                <a16:creationId xmlns:a16="http://schemas.microsoft.com/office/drawing/2014/main" id="{3274878E-7F61-6FDC-5ACF-8DC0822239D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521" y="290820"/>
            <a:ext cx="4637260" cy="31381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>
            <a:extLst>
              <a:ext uri="{FF2B5EF4-FFF2-40B4-BE49-F238E27FC236}">
                <a16:creationId xmlns:a16="http://schemas.microsoft.com/office/drawing/2014/main" id="{AB3F855F-F632-19D2-A79C-1F444F6CE2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5274" y="290820"/>
            <a:ext cx="5030274" cy="31381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9216CA9-C6A0-AF87-32B7-F3FBFB64EFC9}"/>
              </a:ext>
            </a:extLst>
          </p:cNvPr>
          <p:cNvSpPr txBox="1"/>
          <p:nvPr/>
        </p:nvSpPr>
        <p:spPr>
          <a:xfrm>
            <a:off x="2261418" y="3677264"/>
            <a:ext cx="7511846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Results (Best Model) 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CD97EED7-590D-46E8-D487-3FEE6503F8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0566040"/>
              </p:ext>
            </p:extLst>
          </p:nvPr>
        </p:nvGraphicFramePr>
        <p:xfrm>
          <a:off x="1408112" y="4200484"/>
          <a:ext cx="8947152" cy="1005840"/>
        </p:xfrm>
        <a:graphic>
          <a:graphicData uri="http://schemas.openxmlformats.org/drawingml/2006/table">
            <a:tbl>
              <a:tblPr/>
              <a:tblGrid>
                <a:gridCol w="1118394">
                  <a:extLst>
                    <a:ext uri="{9D8B030D-6E8A-4147-A177-3AD203B41FA5}">
                      <a16:colId xmlns:a16="http://schemas.microsoft.com/office/drawing/2014/main" val="3444225900"/>
                    </a:ext>
                  </a:extLst>
                </a:gridCol>
                <a:gridCol w="1118394">
                  <a:extLst>
                    <a:ext uri="{9D8B030D-6E8A-4147-A177-3AD203B41FA5}">
                      <a16:colId xmlns:a16="http://schemas.microsoft.com/office/drawing/2014/main" val="1197881743"/>
                    </a:ext>
                  </a:extLst>
                </a:gridCol>
                <a:gridCol w="1118394">
                  <a:extLst>
                    <a:ext uri="{9D8B030D-6E8A-4147-A177-3AD203B41FA5}">
                      <a16:colId xmlns:a16="http://schemas.microsoft.com/office/drawing/2014/main" val="3390211024"/>
                    </a:ext>
                  </a:extLst>
                </a:gridCol>
                <a:gridCol w="1118394">
                  <a:extLst>
                    <a:ext uri="{9D8B030D-6E8A-4147-A177-3AD203B41FA5}">
                      <a16:colId xmlns:a16="http://schemas.microsoft.com/office/drawing/2014/main" val="132258999"/>
                    </a:ext>
                  </a:extLst>
                </a:gridCol>
                <a:gridCol w="1118394">
                  <a:extLst>
                    <a:ext uri="{9D8B030D-6E8A-4147-A177-3AD203B41FA5}">
                      <a16:colId xmlns:a16="http://schemas.microsoft.com/office/drawing/2014/main" val="3546464539"/>
                    </a:ext>
                  </a:extLst>
                </a:gridCol>
                <a:gridCol w="1118394">
                  <a:extLst>
                    <a:ext uri="{9D8B030D-6E8A-4147-A177-3AD203B41FA5}">
                      <a16:colId xmlns:a16="http://schemas.microsoft.com/office/drawing/2014/main" val="2052163087"/>
                    </a:ext>
                  </a:extLst>
                </a:gridCol>
                <a:gridCol w="1118394">
                  <a:extLst>
                    <a:ext uri="{9D8B030D-6E8A-4147-A177-3AD203B41FA5}">
                      <a16:colId xmlns:a16="http://schemas.microsoft.com/office/drawing/2014/main" val="1090372434"/>
                    </a:ext>
                  </a:extLst>
                </a:gridCol>
                <a:gridCol w="1118394">
                  <a:extLst>
                    <a:ext uri="{9D8B030D-6E8A-4147-A177-3AD203B41FA5}">
                      <a16:colId xmlns:a16="http://schemas.microsoft.com/office/drawing/2014/main" val="673245292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Split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Precision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Recall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F1-score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Error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Runtime (s)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483771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0.9430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0.9355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0.9516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0.9435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0.0570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0.2727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197.21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4412322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E6D413B6-C0CE-03F4-EB72-C301CC3AB7F6}"/>
              </a:ext>
            </a:extLst>
          </p:cNvPr>
          <p:cNvGraphicFramePr>
            <a:graphicFrameLocks noGrp="1"/>
          </p:cNvGraphicFramePr>
          <p:nvPr/>
        </p:nvGraphicFramePr>
        <p:xfrm>
          <a:off x="943897" y="4247535"/>
          <a:ext cx="9851922" cy="1091381"/>
        </p:xfrm>
        <a:graphic>
          <a:graphicData uri="http://schemas.openxmlformats.org/drawingml/2006/table">
            <a:tbl>
              <a:tblPr/>
              <a:tblGrid>
                <a:gridCol w="9851922">
                  <a:extLst>
                    <a:ext uri="{9D8B030D-6E8A-4147-A177-3AD203B41FA5}">
                      <a16:colId xmlns:a16="http://schemas.microsoft.com/office/drawing/2014/main" val="471921275"/>
                    </a:ext>
                  </a:extLst>
                </a:gridCol>
              </a:tblGrid>
              <a:tr h="109138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00216536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E89FF43E-D4BE-B187-CA04-82EB44E38ABB}"/>
              </a:ext>
            </a:extLst>
          </p:cNvPr>
          <p:cNvSpPr txBox="1"/>
          <p:nvPr/>
        </p:nvSpPr>
        <p:spPr>
          <a:xfrm>
            <a:off x="842656" y="5562309"/>
            <a:ext cx="100780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So, from the above tables it can be seen that the F1 score improved a bit for the test set and Cross Entropy Loss also improved a little.. Below are the plots for the testing of model: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365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>
            <a:extLst>
              <a:ext uri="{FF2B5EF4-FFF2-40B4-BE49-F238E27FC236}">
                <a16:creationId xmlns:a16="http://schemas.microsoft.com/office/drawing/2014/main" id="{1CCE5F62-4ADE-F31C-6EF6-E4E566E323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660" y="289590"/>
            <a:ext cx="9299933" cy="3250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>
            <a:extLst>
              <a:ext uri="{FF2B5EF4-FFF2-40B4-BE49-F238E27FC236}">
                <a16:creationId xmlns:a16="http://schemas.microsoft.com/office/drawing/2014/main" id="{F2DCC54E-E416-047E-7B31-D5C5A38036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661" y="3637935"/>
            <a:ext cx="5258874" cy="30185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>
            <a:extLst>
              <a:ext uri="{FF2B5EF4-FFF2-40B4-BE49-F238E27FC236}">
                <a16:creationId xmlns:a16="http://schemas.microsoft.com/office/drawing/2014/main" id="{4F46A9E3-0E29-B28B-6366-64A04C9E03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8180" y="3637935"/>
            <a:ext cx="5437239" cy="30185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180942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ECF49-45D2-1725-4921-8DC3CC686F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4769" y="231276"/>
            <a:ext cx="9404723" cy="643795"/>
          </a:xfrm>
        </p:spPr>
        <p:txBody>
          <a:bodyPr anchor="ctr"/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Baseline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2B85D0-6ACC-AD20-04B9-7699C0C6D2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244934"/>
            <a:ext cx="8946541" cy="489154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Baseline Results Table:</a:t>
            </a:r>
          </a:p>
          <a:p>
            <a:pPr marL="0" indent="0">
              <a:buNone/>
            </a:pP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A621AE-EA30-A3BF-C8A1-B25FF90D1A66}"/>
              </a:ext>
            </a:extLst>
          </p:cNvPr>
          <p:cNvSpPr txBox="1"/>
          <p:nvPr/>
        </p:nvSpPr>
        <p:spPr>
          <a:xfrm>
            <a:off x="1032110" y="872175"/>
            <a:ext cx="87900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RoBERTa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linear classification head. Trained head only for 5 epochs with Default hyperparameters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F3BCDF9-7C38-D37A-9B4A-40F56B0EB4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5420133"/>
              </p:ext>
            </p:extLst>
          </p:nvPr>
        </p:nvGraphicFramePr>
        <p:xfrm>
          <a:off x="1102703" y="1826173"/>
          <a:ext cx="8947150" cy="1341120"/>
        </p:xfrm>
        <a:graphic>
          <a:graphicData uri="http://schemas.openxmlformats.org/drawingml/2006/table">
            <a:tbl>
              <a:tblPr/>
              <a:tblGrid>
                <a:gridCol w="1789430">
                  <a:extLst>
                    <a:ext uri="{9D8B030D-6E8A-4147-A177-3AD203B41FA5}">
                      <a16:colId xmlns:a16="http://schemas.microsoft.com/office/drawing/2014/main" val="2382691515"/>
                    </a:ext>
                  </a:extLst>
                </a:gridCol>
                <a:gridCol w="1789430">
                  <a:extLst>
                    <a:ext uri="{9D8B030D-6E8A-4147-A177-3AD203B41FA5}">
                      <a16:colId xmlns:a16="http://schemas.microsoft.com/office/drawing/2014/main" val="3932147078"/>
                    </a:ext>
                  </a:extLst>
                </a:gridCol>
                <a:gridCol w="1789430">
                  <a:extLst>
                    <a:ext uri="{9D8B030D-6E8A-4147-A177-3AD203B41FA5}">
                      <a16:colId xmlns:a16="http://schemas.microsoft.com/office/drawing/2014/main" val="472359032"/>
                    </a:ext>
                  </a:extLst>
                </a:gridCol>
                <a:gridCol w="1789430">
                  <a:extLst>
                    <a:ext uri="{9D8B030D-6E8A-4147-A177-3AD203B41FA5}">
                      <a16:colId xmlns:a16="http://schemas.microsoft.com/office/drawing/2014/main" val="1446386901"/>
                    </a:ext>
                  </a:extLst>
                </a:gridCol>
                <a:gridCol w="1789430">
                  <a:extLst>
                    <a:ext uri="{9D8B030D-6E8A-4147-A177-3AD203B41FA5}">
                      <a16:colId xmlns:a16="http://schemas.microsoft.com/office/drawing/2014/main" val="303978737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Split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F1-score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Runtime (s)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89929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0.8667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0.8639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0.3757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492.02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30771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0.8611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0.8564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0.3786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54.66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09278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0.8626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0.8607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0.3762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60.74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9691214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3ABABEC-F84C-C200-F7FA-DD1EE18A1E97}"/>
              </a:ext>
            </a:extLst>
          </p:cNvPr>
          <p:cNvGraphicFramePr>
            <a:graphicFrameLocks noGrp="1"/>
          </p:cNvGraphicFramePr>
          <p:nvPr/>
        </p:nvGraphicFramePr>
        <p:xfrm>
          <a:off x="1042219" y="1848465"/>
          <a:ext cx="9252155" cy="1396180"/>
        </p:xfrm>
        <a:graphic>
          <a:graphicData uri="http://schemas.openxmlformats.org/drawingml/2006/table">
            <a:tbl>
              <a:tblPr/>
              <a:tblGrid>
                <a:gridCol w="9252155">
                  <a:extLst>
                    <a:ext uri="{9D8B030D-6E8A-4147-A177-3AD203B41FA5}">
                      <a16:colId xmlns:a16="http://schemas.microsoft.com/office/drawing/2014/main" val="2459324424"/>
                    </a:ext>
                  </a:extLst>
                </a:gridCol>
              </a:tblGrid>
              <a:tr h="139618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2672202"/>
                  </a:ext>
                </a:extLst>
              </a:tr>
            </a:tbl>
          </a:graphicData>
        </a:graphic>
      </p:graphicFrame>
      <p:pic>
        <p:nvPicPr>
          <p:cNvPr id="7170" name="Picture 2">
            <a:extLst>
              <a:ext uri="{FF2B5EF4-FFF2-40B4-BE49-F238E27FC236}">
                <a16:creationId xmlns:a16="http://schemas.microsoft.com/office/drawing/2014/main" id="{6EE80164-E648-1308-DE8C-A5F874D8C2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123" y="3383724"/>
            <a:ext cx="6027175" cy="32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>
            <a:extLst>
              <a:ext uri="{FF2B5EF4-FFF2-40B4-BE49-F238E27FC236}">
                <a16:creationId xmlns:a16="http://schemas.microsoft.com/office/drawing/2014/main" id="{EE454436-5B91-B333-3D3E-53687FEAE9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0887" y="3383724"/>
            <a:ext cx="5130339" cy="32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99400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789EF0-ABC6-BB8A-1DD9-8179136FB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427" y="250940"/>
            <a:ext cx="9404723" cy="614299"/>
          </a:xfrm>
        </p:spPr>
        <p:txBody>
          <a:bodyPr anchor="ctr"/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Comparison: Optimized vs Baseline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F122982-7803-B0F8-703B-85159C6C51B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69018211"/>
              </p:ext>
            </p:extLst>
          </p:nvPr>
        </p:nvGraphicFramePr>
        <p:xfrm>
          <a:off x="698090" y="976667"/>
          <a:ext cx="9665112" cy="2682240"/>
        </p:xfrm>
        <a:graphic>
          <a:graphicData uri="http://schemas.openxmlformats.org/drawingml/2006/table">
            <a:tbl>
              <a:tblPr/>
              <a:tblGrid>
                <a:gridCol w="3221704">
                  <a:extLst>
                    <a:ext uri="{9D8B030D-6E8A-4147-A177-3AD203B41FA5}">
                      <a16:colId xmlns:a16="http://schemas.microsoft.com/office/drawing/2014/main" val="547920689"/>
                    </a:ext>
                  </a:extLst>
                </a:gridCol>
                <a:gridCol w="3221704">
                  <a:extLst>
                    <a:ext uri="{9D8B030D-6E8A-4147-A177-3AD203B41FA5}">
                      <a16:colId xmlns:a16="http://schemas.microsoft.com/office/drawing/2014/main" val="798783683"/>
                    </a:ext>
                  </a:extLst>
                </a:gridCol>
                <a:gridCol w="3221704">
                  <a:extLst>
                    <a:ext uri="{9D8B030D-6E8A-4147-A177-3AD203B41FA5}">
                      <a16:colId xmlns:a16="http://schemas.microsoft.com/office/drawing/2014/main" val="320233219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Metric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Optimized (Fine-Tuned)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Baseline </a:t>
                      </a:r>
                      <a:r>
                        <a:rPr lang="en-IN" sz="16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RoBERTa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48614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0.9435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0.8626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32470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Precision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0.9355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0.8726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62181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Recall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0.9516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0.8492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96081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F1-score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0.9435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0.8607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24369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Error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0.0570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0.1374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89747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0.2727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0.3762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33276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Runtime (s)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197.21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60.74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8909791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899B6B23-B4B8-7B65-404A-A29AFA1590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91BFBFD-2784-89E8-6BBE-A76F426E9C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8210695"/>
              </p:ext>
            </p:extLst>
          </p:nvPr>
        </p:nvGraphicFramePr>
        <p:xfrm>
          <a:off x="816077" y="904568"/>
          <a:ext cx="9370142" cy="2939845"/>
        </p:xfrm>
        <a:graphic>
          <a:graphicData uri="http://schemas.openxmlformats.org/drawingml/2006/table">
            <a:tbl>
              <a:tblPr/>
              <a:tblGrid>
                <a:gridCol w="9370142">
                  <a:extLst>
                    <a:ext uri="{9D8B030D-6E8A-4147-A177-3AD203B41FA5}">
                      <a16:colId xmlns:a16="http://schemas.microsoft.com/office/drawing/2014/main" val="771276871"/>
                    </a:ext>
                  </a:extLst>
                </a:gridCol>
              </a:tblGrid>
              <a:tr h="293984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190659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0C8DBF6-7742-D7BE-0BD3-7D9ABDE95C6F}"/>
              </a:ext>
            </a:extLst>
          </p:cNvPr>
          <p:cNvSpPr txBox="1"/>
          <p:nvPr/>
        </p:nvSpPr>
        <p:spPr>
          <a:xfrm>
            <a:off x="698091" y="4218039"/>
            <a:ext cx="966511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So, from the above table it can be clearly seen that my reimplemented and fine Tuned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RoBERTa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 performed quite better than the SOTA baseline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RoBERTa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model. The cross-entropy loss for optimized model is very less as compared to the base model. The Primary metric for comparison I took was F1 score and Optimized model has higher F1 score as compared to the baseline model. So, the optimized model significantly outperforms the baseline across all metrics. Fine-tuning all layers and hyperparameter tuning led to higher F1-score (0.9435 vs ~0.8607).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08608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>
            <a:extLst>
              <a:ext uri="{FF2B5EF4-FFF2-40B4-BE49-F238E27FC236}">
                <a16:creationId xmlns:a16="http://schemas.microsoft.com/office/drawing/2014/main" id="{1DFB3E54-DE79-583F-8960-E781743EF5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2782" y="137653"/>
            <a:ext cx="7746435" cy="3578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0" name="Picture 4">
            <a:extLst>
              <a:ext uri="{FF2B5EF4-FFF2-40B4-BE49-F238E27FC236}">
                <a16:creationId xmlns:a16="http://schemas.microsoft.com/office/drawing/2014/main" id="{AD3B1222-4735-33B8-E7AC-5302936A5F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486" y="3785420"/>
            <a:ext cx="5243514" cy="2934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2" name="Picture 6">
            <a:extLst>
              <a:ext uri="{FF2B5EF4-FFF2-40B4-BE49-F238E27FC236}">
                <a16:creationId xmlns:a16="http://schemas.microsoft.com/office/drawing/2014/main" id="{A0A22A94-ED38-CF02-83DB-5F86D0A74C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1471" y="3785420"/>
            <a:ext cx="5102942" cy="2934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568844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>
            <a:extLst>
              <a:ext uri="{FF2B5EF4-FFF2-40B4-BE49-F238E27FC236}">
                <a16:creationId xmlns:a16="http://schemas.microsoft.com/office/drawing/2014/main" id="{409C2138-177C-9CC2-2D45-9F7A52183D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9909" y="235975"/>
            <a:ext cx="6921909" cy="40508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F0E5A25-D5B1-BED7-58A2-F79FF5DB3E8A}"/>
              </a:ext>
            </a:extLst>
          </p:cNvPr>
          <p:cNvSpPr txBox="1"/>
          <p:nvPr/>
        </p:nvSpPr>
        <p:spPr>
          <a:xfrm>
            <a:off x="1710813" y="4847303"/>
            <a:ext cx="8976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above plot shows that the F1 score of the Optimized model is significantly higher and thus shows better performance than the base model.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1736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9A9B6-4562-7258-3F54-272B5E0CB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130" y="300102"/>
            <a:ext cx="9404723" cy="618998"/>
          </a:xfrm>
        </p:spPr>
        <p:txBody>
          <a:bodyPr anchor="ctr"/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Deployed Model and Inference Setup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E14394-AFB3-CE54-9DBE-6103E767D8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3" y="1091382"/>
            <a:ext cx="4835372" cy="5157018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Application Implementation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-Based Deployment)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sentiment analysis system is deployed as 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 application, offering: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Text input for user reviews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Real-time prediction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Confidence score display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Decision strength visualization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Warning messages for ambiguous sentiment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F1D98C-E61A-6C5D-3B1E-7112C189F8E7}"/>
              </a:ext>
            </a:extLst>
          </p:cNvPr>
          <p:cNvSpPr txBox="1"/>
          <p:nvPr/>
        </p:nvSpPr>
        <p:spPr>
          <a:xfrm>
            <a:off x="5938685" y="1091382"/>
            <a:ext cx="4680155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deployed pipeline follows these steps: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enters a movie review in the web interface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Text is tokenized using the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RoBERTa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tokenizer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Tokenized inputs are passed through the fine-tuned model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Model outputs raw logits for positive and negative sentiment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Temperature scaling is applied to logits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Final prediction, confidence score, and decision strength are displayed on the web app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15556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FE11D-9F0D-072C-DC2B-8445DBD74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95979"/>
          </a:xfrm>
        </p:spPr>
        <p:txBody>
          <a:bodyPr anchor="ctr"/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50466F-DD72-2081-B0B6-98A8371C3D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293" y="1331259"/>
            <a:ext cx="8946541" cy="2385335"/>
          </a:xfrm>
        </p:spPr>
        <p:txBody>
          <a:bodyPr>
            <a:norm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demonstrates a complete end-to-end deep learning workflow: from dataset selection and preprocessing to model training, optimization, evaluation, deployment, and reflection. The fine-tuned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RoBERTa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 achieved strong performance on the IMDB dataset and was successfully transformed into a usable web application. 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highlights both the strengths and limitations of deep learning for sentiment analysis and provides practical insights into real-world NLP system design.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657520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BACC050B-8757-4460-95D8-E37B46A6B42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344</TotalTime>
  <Words>1062</Words>
  <Application>Microsoft Office PowerPoint</Application>
  <PresentationFormat>Widescreen</PresentationFormat>
  <Paragraphs>180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Century Gothic</vt:lpstr>
      <vt:lpstr>Times New Roman</vt:lpstr>
      <vt:lpstr>Wingdings 3</vt:lpstr>
      <vt:lpstr>Ion</vt:lpstr>
      <vt:lpstr>Applied Deep Learning Project (WS2025) IMDB Sentiment Analysis Using NLP</vt:lpstr>
      <vt:lpstr>Data Preprocessing </vt:lpstr>
      <vt:lpstr>PowerPoint Presentation</vt:lpstr>
      <vt:lpstr>Results Table (Best Model)</vt:lpstr>
      <vt:lpstr>PowerPoint Presentation</vt:lpstr>
      <vt:lpstr>PowerPoint Presentation</vt:lpstr>
      <vt:lpstr>Baseline Model</vt:lpstr>
      <vt:lpstr>Comparison: Optimized vs Baseline</vt:lpstr>
      <vt:lpstr>PowerPoint Presentation</vt:lpstr>
      <vt:lpstr>PowerPoint Presentation</vt:lpstr>
      <vt:lpstr>Deployed Model and Inference Setup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Aman Bhardwaj</dc:creator>
  <cp:lastModifiedBy>Aman Bhardwaj</cp:lastModifiedBy>
  <cp:revision>10</cp:revision>
  <dcterms:created xsi:type="dcterms:W3CDTF">2026-01-13T10:28:36Z</dcterms:created>
  <dcterms:modified xsi:type="dcterms:W3CDTF">2026-01-13T22:40:35Z</dcterms:modified>
</cp:coreProperties>
</file>